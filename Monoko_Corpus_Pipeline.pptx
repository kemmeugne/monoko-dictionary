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ellipse">
            <a:avLst/>
          </a:prstGeom>
          <a:solidFill>
            <a:srgbClr val="C05F3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566928"/>
            <a:ext cx="201168" cy="201168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566928"/>
            <a:ext cx="201168" cy="20116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corpus,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cœur de Monɔkɔ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3703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8 000 phrases d'exemples aux leçons : la logique et le pipeline qui nous attendent.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64040" y="1783080"/>
            <a:ext cx="2148840" cy="2377440"/>
          </a:xfrm>
          <a:prstGeom prst="roundRect">
            <a:avLst>
              <a:gd name="adj" fmla="val 5106"/>
            </a:avLst>
          </a:prstGeom>
          <a:solidFill>
            <a:srgbClr val="C05F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945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5548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donnée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interne  ·  6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richesse rare, jamais mise en forme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0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</a:t>
            </a:r>
            <a:pPr algn="l" indent="0" marL="0">
              <a:buNone/>
            </a:pPr>
            <a:r>
              <a:rPr lang="en-US" sz="1800" dirty="0">
                <a:solidFill>
                  <a:srgbClr val="6E7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phrases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d'exemples en lingala, vérifiées par le professeur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0248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240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l" indent="0" marL="0">
              <a:buNone/>
            </a:pPr>
            <a:r>
              <a:rPr lang="en-US" sz="1800" dirty="0">
                <a:solidFill>
                  <a:srgbClr val="6E7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leçon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62856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formelle n'a jamais été écrite pour les organiser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91856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66176" y="2240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6B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pPr algn="l" indent="0" marL="0">
              <a:buNone/>
            </a:pPr>
            <a:r>
              <a:rPr lang="en-US" sz="1800" dirty="0">
                <a:solidFill>
                  <a:srgbClr val="6E7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modules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84464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(A1 → B2+) : la structure existe, il faut la remplir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EFE4"/>
          </a:solidFill>
          <a:ln w="19050">
            <a:solidFill>
              <a:srgbClr val="6B8E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617720"/>
            <a:ext cx="685800" cy="685800"/>
          </a:xfrm>
          <a:prstGeom prst="ellipse">
            <a:avLst/>
          </a:prstGeom>
          <a:solidFill>
            <a:srgbClr val="6B8E5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4791456"/>
            <a:ext cx="283464" cy="338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736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L'idée centrale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737360" y="4846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part pas d'un cours à écrire — on dérive les leçons à partir du corpus qui existe déjà. Les phrases SONT la matière première de chaque leçon et de chaque exercice.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DÉRIVER UNE LEÇON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versions — de coûts très différents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25400">
            <a:solidFill>
              <a:srgbClr val="6B8E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6B8E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225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A — Regrouper</a:t>
            </a:r>
            <a:endParaRPr lang="en-US" sz="180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6B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peu coûteux · fiable · à faire en premier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8 000 phrases en ensembles enseignables : par thème (salutations, marché…), par trait grammatical (négation « te », marque « na- »), par vocabulaire, par difficulté.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= 12 phrases liées, exercées avec nos jeux. Aucun texte à écrire : les phrases sont la leçon, organisées.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Réalisable tout de suite, avec les embeddings pgvector déjà en place.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25400">
            <a:solidFill>
              <a:srgbClr val="C99A3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C99A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3225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B — Expliquer</a:t>
            </a:r>
            <a:endParaRPr lang="en-US" sz="180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précieux · mais brouillon à vérifier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310896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Dériver le vrai enseignement : « te » à la fin marque la négation, « na- » = 1ʳᵉ personne… et rédiger la petite carte « théorie ».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sait beaucoup induire — mais sur une langue bantoue tonale et peu documentée, elle hallucine aussi des règles subtilement fausses.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Toujours dérivé PUIS vérifié par le professeur. Jamais dérivé puis publié.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LEÇON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hybride : le meilleur de Duolingo, plus ce qu'il n'a 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Voler les mécaniques de jeu (rétention prouvée) — mais enseigner brièvement, puis mener vers la vraie conversation.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0472" y="2468880"/>
            <a:ext cx="731520" cy="73152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19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Enseigner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" y="377647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s, 2 cartes. Le motif + un exemple + l'audio. Ce que Duolingo saute et que vos apprenants d'origine réclament.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36392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19856" y="214884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2468880"/>
            <a:ext cx="731520" cy="73152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651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3319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Exercer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675888" y="377647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jeux façon Duolingo : écoute-et-écris, associations, mots à remettre en ordre, texte à trous. Le moteur de rétention.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007608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291072" y="214884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32904" y="2468880"/>
            <a:ext cx="731520" cy="73152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6517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319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Converser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547104" y="377647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ce qu'on vient d'apprendre avec l'IA Monoko. Le levier de fluidité — et notre atout que Duolingo n'a pas.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878824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162288" y="214884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04120" y="2468880"/>
            <a:ext cx="731520" cy="73152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6517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45168" y="3319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Réviser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9418320" y="377647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échoué tombe dans la file de répétition espacée (SM-2). L'examen de niveau teste l'ensemble.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Enseigner brièvement · exercer comme un jeu · converser pour de vrai. Le corpus alimente chacune de ces étapes.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leçon entière, à partir de 5 lignes du corpus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Français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Lingala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suis fatigué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lembi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suis fatigué aujourd'hui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lembi lelo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es fatigué 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Olembi 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ne suis pas fatigué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lembi 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aujourd'hui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E2D2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0" y="2514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généré à partir de ces 5 lignes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772400" y="34290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n'écrit pas chaque exercice à la main.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AE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(français · lingala · audio) alimente automatiquement 4 à 5 types d'exercices — voir la page suivante.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couche « jeu » devient de l'ingénierie, pas du contenu — et ça se réplique pour le yoruba sans réécrire une seule phrase.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EXERCICES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types, générés depuis les mêmes lignes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3362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76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Écoute &amp; écris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852928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« Na lembi » → l'apprenant tape ce qu'il entend. Utilise l'audio + la chaîne lingala.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19456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3362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176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Associer les paires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2852928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lingala ↔ français : Na lembi · lelo · Olembi ? avec leurs traductions.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219456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16" y="23362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2176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Remettre en ordre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77072" y="2852928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« Na lembi lelo » depuis une banque de mots, avec des intrus tirés de la leçon.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350008" y="404164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624328" y="431596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60" y="44577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55848" y="42976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Texte à trous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642616" y="4974336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___ te (« je ne suis pas fatigué ») · options : lembi · lelo · mbote.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17920" y="404164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0" y="431596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4457700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42976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l'audio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510528" y="4974336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son dit « Tu es fatigué ? » → l'apprenant reconnaît « Olembi ? » à l'oreille.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SOURCES, UN SYSTÈME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corpus n'est pas un extra — c'est le réservoir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905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lesson_items — la colonne vertébrale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 du cours : ce qu'on enseigne, dans quel ordre, aligné sur la structure CEFR (29 modules).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E7EE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305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 examples — le réservoir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80720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 supplémentaire pour les exercices, phrasés alternatifs, intrus plausibles, éléments de révision. Plus de phrases réelles = meilleurs jeux, moins de répétition.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E2D2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34840"/>
            <a:ext cx="822960" cy="822960"/>
          </a:xfrm>
          <a:prstGeom prst="ellipse">
            <a:avLst/>
          </a:prstGeom>
          <a:solidFill>
            <a:srgbClr val="C05F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654296"/>
            <a:ext cx="329184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97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seule règle absolue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11680" y="473659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montré comme « lingala correct » doit être vérifié par le professeur.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étiquette chaque phrase par statut de vérification : seules les phrases vérifiées apparaissent dans les leçons. Les non-vérifiées peuvent servir de brouillons que le professeur valide.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pipeline, pas une nuée d'agents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EFE4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225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Surtout du traitement de données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8 000 phrases (embeddings + clustering) → un script.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négation, 1ʳᵉ personne, questions → règles + classification. Un script.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les 5 types d'exercices → des fonctions-gabarits. Un script.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les intrus → requête dans le corpus. Un script.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DEFE4"/>
          </a:solidFill>
          <a:ln w="25400">
            <a:solidFill>
              <a:srgbClr val="6B8E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6B8E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31720"/>
            <a:ext cx="329184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seul suffit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29400" y="30632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seules parties « IA » : rédiger les cartes « théorie » et noter la qualité des exercices — de simples appels LLM en lot, exactement le motif de votre pipeline de test GPT-4o-mini.</a:t>
            </a:r>
            <a:endParaRPr lang="en-US" sz="1300" dirty="0"/>
          </a:p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LangGraph, d'agents autonomes ni d'orchestration multi-agents.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mental : un « agent » se justifie quand le système doit décider seul ses prochaines étapes. Ici, c'est une suite connue de transformations sur un corpus fixe → un pipeline. Plus fiable, moins cher, plus facile à déboguer.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étapes, dans l'ordre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0" y="822960"/>
            <a:ext cx="182880" cy="182880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5" name="Text 3"/>
          <p:cNvSpPr/>
          <p:nvPr/>
        </p:nvSpPr>
        <p:spPr>
          <a:xfrm>
            <a:off x="7552944" y="749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données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915400" y="822960"/>
            <a:ext cx="182880" cy="18288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7" name="Text 5"/>
          <p:cNvSpPr/>
          <p:nvPr/>
        </p:nvSpPr>
        <p:spPr>
          <a:xfrm>
            <a:off x="9153144" y="749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LLM en lot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0" y="822960"/>
            <a:ext cx="182880" cy="182880"/>
          </a:xfrm>
          <a:prstGeom prst="ellipse">
            <a:avLst/>
          </a:prstGeom>
          <a:solidFill>
            <a:srgbClr val="C05F3C"/>
          </a:solidFill>
          <a:ln/>
        </p:spPr>
      </p:sp>
      <p:sp>
        <p:nvSpPr>
          <p:cNvPr id="9" name="Text 7"/>
          <p:cNvSpPr/>
          <p:nvPr/>
        </p:nvSpPr>
        <p:spPr>
          <a:xfrm>
            <a:off x="10753344" y="749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humaine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17099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du corpus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09160" y="169164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Inventorier les 8 000 phrases : statut de vérification, traits (négation, personne, temps, question), thème, longueur, vocabulaire. → une table enrichie.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697480"/>
            <a:ext cx="566928" cy="566928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26700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curriculum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les phrases aux 29 modules CEFR selon traits / vocabulaire / difficulté. → quelle phrase appartient à quelle leçon.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566928" cy="566928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630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Générateur d'exercices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09160" y="361188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fonctions-gabarits qui transforment toute phrase vérifiée en 5 types d'exercices, avec intrus plausibles.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617720"/>
            <a:ext cx="566928" cy="56692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45902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Générateur de brouillons de leçon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709160" y="457200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LLM en lot qui rédige la carte « théorie » de chaque groupe. → table lesson_drafts marquée pour révision.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577840"/>
            <a:ext cx="566928" cy="566928"/>
          </a:xfrm>
          <a:prstGeom prst="ellipse">
            <a:avLst/>
          </a:prstGeom>
          <a:solidFill>
            <a:srgbClr val="C05F3C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554480" y="55504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de vérification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709160" y="553212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professeur révise / corrige les brouillons dans le panneau admin existant. Les brouillons approuvés deviennent des leçons publiées.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ellipse">
            <a:avLst/>
          </a:prstGeom>
          <a:solidFill>
            <a:srgbClr val="C05F3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566928"/>
            <a:ext cx="201168" cy="201168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566928"/>
            <a:ext cx="201168" cy="20116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nous attend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7392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C05F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883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recadrage qui débloque la Phase 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783080" y="2788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professeur n'est plus l'AUTEUR des leçons, mais le VALIDATEUR de brouillons produits par l'IA. Relire et corriger un brouillon va 10× plus vite qu'écrire depuis zéro.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977640"/>
            <a:ext cx="502920" cy="502920"/>
          </a:xfrm>
          <a:prstGeom prst="ellipse">
            <a:avLst/>
          </a:prstGeom>
          <a:solidFill>
            <a:srgbClr val="6B8E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41239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9684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pas concret  —  </a:t>
            </a:r>
            <a:pPr indent="0" marL="0">
              <a:buNone/>
            </a:pPr>
            <a:r>
              <a:rPr lang="en-US" sz="150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l'étape 1, l'audit du corpus. Elle dit ce qu'on a vraiment avant de concevoir quoi que ce soit, et c'est l'entrée de tout le reste.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3444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après-midi de travail, pas un projet.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Monɔkɔ  ·  le corpus vérifié au cœur de chaque leçon, chaque exercice, chaque conversation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Monoko — Le corpus au cœur de l'app</dc:title>
  <dc:subject>PptxGenJS Presentation</dc:subject>
  <dc:creator>Monoko</dc:creator>
  <cp:lastModifiedBy>Monoko</cp:lastModifiedBy>
  <cp:revision>1</cp:revision>
  <dcterms:created xsi:type="dcterms:W3CDTF">2026-07-06T21:58:42Z</dcterms:created>
  <dcterms:modified xsi:type="dcterms:W3CDTF">2026-07-06T21:58:42Z</dcterms:modified>
</cp:coreProperties>
</file>