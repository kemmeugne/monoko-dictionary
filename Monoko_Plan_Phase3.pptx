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9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2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552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8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868680" y="566928"/>
            <a:ext cx="201168" cy="201168"/>
          </a:xfrm>
          <a:prstGeom prst="ellipse">
            <a:avLst/>
          </a:prstGeom>
          <a:solidFill>
            <a:srgbClr val="6B8E5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1188720" y="566928"/>
            <a:ext cx="201168" cy="201168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Monɔkɔ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66928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E8E1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lancement — Phase 3 vers le marché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66928" y="379476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lingala d'abord, comme un produit complet, avant d'ajouter d'autres langues.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281160" y="1828800"/>
            <a:ext cx="2331720" cy="2743200"/>
          </a:xfrm>
          <a:prstGeom prst="roundRect">
            <a:avLst>
              <a:gd name="adj" fmla="val 4706"/>
            </a:avLst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0" y="22402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0" y="297180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discussion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66928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interne  ·  6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STRATÉGIQUE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lingala d'abord : notre avantage, pas une limite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des apprenants de lingala est réel et mal desservi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diaspora congolaise (France, Belgique, Québec, R.-U.), apprenants d'origine, ONG et partenaires de locuteurs. Aucune alternative gratuite de qualité n'existe : on ne concurrence pas sur le prix, mais sur l'existence même du produit.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42900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b="1" i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La meilleure app de lingala, avec d'autres langues à venir »</a:t>
            </a:r>
            <a:endParaRPr lang="en-US" sz="15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 comme un produit. « Une plateforme avec 10 langues moyennes » sonne comme un projet. Le lingala est le point d'entrée, pas le plafond.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572768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7589520" y="168249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607808" y="232257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sérieux qui enseigne le lingala (Duolingo, Babbel, Memrise : absents)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60920" y="2944368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7589520" y="305409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607808" y="369417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diaspora prioritaires : France, Belgique, Québec, Royaume-Uni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60920" y="4315968"/>
            <a:ext cx="42519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7589520" y="442569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C05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1er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607808" y="5065776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: la référence lingala, financée par des apprenants motivés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Système d'examens + mécaniques d'engagement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le contenu du cours en un produit testable et générateur d'habitude.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60" y="1952244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3545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Moteur d'examens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examen par niveau : écrit 40 % · écoute 30 % · oral 30 %. Seuil de réussite : 70 %. L'oral est évalué par transcription (niv. 1–3) puis par IA pour la fluidité (niv. 4–6).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6552" y="1938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90872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3545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Séries (« streaks »)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 quotidien de pratique : le plus fort levier de rétention des apps type Duolingo. Simple à construire — vérifier seulement « l'utilisateur a-t-il pratiqué aujourd'hui ? ».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84464" y="1938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558784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35458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0304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Révisions espacées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77072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 révision quotidienne (algorithme SM-2) affichée sur l'accueil : « X éléments à réviser aujourd'hui ». Les mauvaises réponses reviennent au bon moment.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6"/>
          <p:cNvSpPr/>
          <p:nvPr/>
        </p:nvSpPr>
        <p:spPr>
          <a:xfrm>
            <a:off x="822960" y="4498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464058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Rappels de série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41248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 visible en priorité (≈ 90 % de la valeur avant le mobile). Les notifications web/e-mail restent optionnelles ; les vraies notifications push arrivent avec le mobile (Phase 5).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416552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6" name="Shape 20"/>
          <p:cNvSpPr/>
          <p:nvPr/>
        </p:nvSpPr>
        <p:spPr>
          <a:xfrm>
            <a:off x="4690872" y="4498848"/>
            <a:ext cx="566928" cy="566928"/>
          </a:xfrm>
          <a:prstGeom prst="ellipse">
            <a:avLst/>
          </a:prstGeom>
          <a:solidFill>
            <a:srgbClr val="E7EE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4640580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22392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Reportés volontairement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4709160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Classements et « vies / cœurs » : écartés pour l'instant. Ils ajoutent de la complexité ; les cœurs frustrent les utilisateurs occasionnels sans réel gain de monétisation à ce stade.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284464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1" name="Shape 24"/>
          <p:cNvSpPr/>
          <p:nvPr/>
        </p:nvSpPr>
        <p:spPr>
          <a:xfrm>
            <a:off x="8558784" y="4498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16" y="4640580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90304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Pré-requis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8577072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démarrer dès l'arrivée du contenu de la Phase 1. L'UX d'examen et la logique de série se construisent déjà contre le contenu existant en attendant le professeur.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3.5 — MONÉTISATION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niveaux, sans toucher à ce qui est déjà gratuit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868680" y="2084832"/>
            <a:ext cx="603504" cy="603504"/>
          </a:xfrm>
          <a:prstGeom prst="ellipse">
            <a:avLst/>
          </a:prstGeom>
          <a:solidFill>
            <a:srgbClr val="E7EE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2402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031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Dictionnaire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77824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· pour toujours · sans pub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77824" y="333756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référencement (SEO) et de bonne volonté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recherche « que veut dire mbote ? » mène à Monoko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N'est pas une ligne de revenu — c'est la raison d'exister dans les esprits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16552" y="17373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736592" y="2084832"/>
            <a:ext cx="603504" cy="603504"/>
          </a:xfrm>
          <a:prstGeom prst="ellipse">
            <a:avLst/>
          </a:prstGeom>
          <a:solidFill>
            <a:srgbClr val="F6EBD4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02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21031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Découverte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45736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· essai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745736" y="333756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1.1 et 1.2 seulement (sons + salutations)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et exercices complets inclus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messages de chat IA par jour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Assez pour créer l'envie, assez court pour atteindre le paywall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84464" y="173736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7" name="Shape 13"/>
          <p:cNvSpPr/>
          <p:nvPr/>
        </p:nvSpPr>
        <p:spPr>
          <a:xfrm>
            <a:off x="8604504" y="2084832"/>
            <a:ext cx="603504" cy="603504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24028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36024" y="210312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Abonnement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613648" y="28346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 · « illimité »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613648" y="3337560"/>
            <a:ext cx="30083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IA illimité (plafond discret anti-abus)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complet aux cours (module 1.3 et au-delà)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Examens et évaluation de la prononciation</a:t>
            </a:r>
            <a:endParaRPr lang="en-US" sz="1250" dirty="0"/>
          </a:p>
          <a:p>
            <a:pPr marL="177800" indent="-177800" algn="l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fonctions IA sont payantes car l'accès API a un coût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3.5 — PRIX &amp; COÛTS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prix d'ancrage, et la maîtrise des coûts d'API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2148840"/>
          </a:xfrm>
          <a:prstGeom prst="roundRect">
            <a:avLst>
              <a:gd name="adj" fmla="val 4255"/>
            </a:avLst>
          </a:prstGeom>
          <a:solidFill>
            <a:srgbClr val="1E2D24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385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d'ancrage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39572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9,99 $ </a:t>
            </a:r>
            <a:r>
              <a:rPr lang="en-US" sz="1600" dirty="0">
                <a:solidFill>
                  <a:srgbClr val="AE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mois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59,99 $ </a:t>
            </a:r>
            <a:r>
              <a:rPr lang="en-US" sz="1400" dirty="0">
                <a:solidFill>
                  <a:srgbClr val="AEB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an  ·  « économisez 50 % »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406908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prix fixe d'abord ?</a:t>
            </a:r>
            <a:endParaRPr lang="en-US" sz="1300" dirty="0"/>
          </a:p>
          <a:p>
            <a:pPr marL="0" indent="0" algn="l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audience de quelques centaines de personnes ne suffit pas à un vrai test A/B. Et dans la diaspora, les gens se parlent : des prix différents en même temps nuisent à la réputation.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ajuste seulement en fenêtres successives (2 sem. prix A, puis prix B). On commence haut : baisser récompense les abonnés, augmenter les fâche.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6199632" y="1947672"/>
            <a:ext cx="548640" cy="548640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0848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03720" y="189280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Quota côté serveur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903720" y="227685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 : 10/jour. Payant : « illimité » avec plafond discret de 100–150/jour. Jamais côté client.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943600" y="3227832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6199632" y="3483864"/>
            <a:ext cx="548640" cy="548640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36210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03720" y="34290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 de débit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903720" y="38130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 requêtes/min par utilisateur sur /api/chat. Bloque les bugs et l'usage abusif comme proxy gratuit.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943600" y="4764024"/>
            <a:ext cx="5669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6"/>
          <p:cNvSpPr/>
          <p:nvPr/>
        </p:nvSpPr>
        <p:spPr>
          <a:xfrm>
            <a:off x="6199632" y="5020056"/>
            <a:ext cx="548640" cy="548640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5157216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496519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Plafond de dépense OpenAI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903720" y="53492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mensuelle stricte à 2–3× le budget prévu + alerte à 50 %. Le pire cas devient un chiffre connu.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943600" y="631850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: ≈ 0,001 $ par message. Un utilisateur gratuit à 10/jour coûte au pire ≈ 0,30 $/mois.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6144768"/>
            <a:ext cx="11064240" cy="0"/>
          </a:xfrm>
          <a:prstGeom prst="roundRect">
            <a:avLst/>
          </a:prstGeom>
          <a:solidFill>
            <a:srgbClr val="F5F1E8"/>
          </a:solidFill>
          <a:ln/>
        </p:spPr>
        <p:txBody>
          <a:bodyPr/>
          <a:lstStyle/>
          <a:p>
            <a:endParaRPr lang="fr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SOFT LAUNCH (WEB SEULEMENT)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Apprendre, pas passer à l'échelle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le prix, la rétention et le tunnel de conversion avant toute dépense d'acquisition ou de passage au mobile.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3820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219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100 % organique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2898648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Facebook congolais, r/Lingala, WhatsApp diaspora, associations et églises de Montréal / Paris / Bruxelles, départements d'études africaines.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6552" y="19659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90872" y="224028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38201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22219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pub, aucune vidéo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2898648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contenu organique filmé au téléphone bat les pubs léchées pour une langue de niche. Et sans données de conversion, dépenser en pub n'aurait aucune base rationnelle.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84464" y="196596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558784" y="224028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38201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0304" y="22219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qu'on mesure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77072" y="2898648"/>
            <a:ext cx="3044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essai → payant à chaque prix · rétention J7 / J30 · abandons dans le tunnel · témoignages et plaintes · épuisement du quota de chat gratuit.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370832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EDEFE4"/>
          </a:solidFill>
          <a:ln w="19050">
            <a:solidFill>
              <a:srgbClr val="6B8E5A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6"/>
          <p:cNvSpPr/>
          <p:nvPr/>
        </p:nvSpPr>
        <p:spPr>
          <a:xfrm>
            <a:off x="868680" y="4709160"/>
            <a:ext cx="658368" cy="658368"/>
          </a:xfrm>
          <a:prstGeom prst="ellipse">
            <a:avLst/>
          </a:prstGeom>
          <a:solidFill>
            <a:srgbClr val="6B8E5A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8828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45902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 de sortie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1691640" y="495604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prix viable au regard du coût d'acquisition, et une courbe de rétention qui ne s'effondre pas avant le 7ᵉ jour. C'est cela qui justifie le passage au mobile — pas une intuition.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APPLICATION MOBILE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Envelopper le web validé avec Capacitor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code : l'app web validée devient l'app mobile. Semaines, pas mois — si la discipline « mobile-first » a été suivie tout du long.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Shape 4"/>
          <p:cNvSpPr/>
          <p:nvPr/>
        </p:nvSpPr>
        <p:spPr>
          <a:xfrm>
            <a:off x="822960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3545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Enveloppe Capacitor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1248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de l'app web déjà éprouvée. Le même HTML/JS tourne dans une WebView native iOS et Android.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16552" y="1938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1" name="Shape 8"/>
          <p:cNvSpPr/>
          <p:nvPr/>
        </p:nvSpPr>
        <p:spPr>
          <a:xfrm>
            <a:off x="4690872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354580"/>
            <a:ext cx="283464" cy="2834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22392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 natif + hors-ligne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709160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micro natif pour les exercices d'oral. Mise en cache des leçons hors-ligne (la connexion est instable dans les marchés visés).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284464" y="1938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558784" y="2212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354580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0304" y="2194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push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577072" y="2871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Vraies notifications push natives pour les séries — le levier de rétention qui ne fonctionne pleinement que sur mobile.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1" name="Shape 16"/>
          <p:cNvSpPr/>
          <p:nvPr/>
        </p:nvSpPr>
        <p:spPr>
          <a:xfrm>
            <a:off x="822960" y="4498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" y="4640580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Soumission aux stores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841248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+ Play Store. Titre optimisé pour la recherche : « Monoko : Learn Lingala », pas seulement « Monoko ».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416552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26" name="Shape 20"/>
          <p:cNvSpPr/>
          <p:nvPr/>
        </p:nvSpPr>
        <p:spPr>
          <a:xfrm>
            <a:off x="4690872" y="4498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2604" y="4640580"/>
            <a:ext cx="283464" cy="28346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22392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Taxe des plateformes</a:t>
            </a:r>
            <a:endParaRPr lang="en-US" sz="1650" dirty="0"/>
          </a:p>
        </p:txBody>
      </p:sp>
      <p:sp>
        <p:nvSpPr>
          <p:cNvPr id="29" name="Text 22"/>
          <p:cNvSpPr/>
          <p:nvPr/>
        </p:nvSpPr>
        <p:spPr>
          <a:xfrm>
            <a:off x="4709160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/ Google prélèvent 30 %. À décider selon les données de Phase 4 : assumer la taxe, ou orienter vers l'abonnement web (Stripe) et ne vérifier que le droit d'accès.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8284464" y="4224528"/>
            <a:ext cx="361188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31" name="Shape 24"/>
          <p:cNvSpPr/>
          <p:nvPr/>
        </p:nvSpPr>
        <p:spPr>
          <a:xfrm>
            <a:off x="8558784" y="4498848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16" y="4640580"/>
            <a:ext cx="283464" cy="28346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290304" y="448056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Réalité du calendrier</a:t>
            </a:r>
            <a:endParaRPr lang="en-US" sz="1650" dirty="0"/>
          </a:p>
        </p:txBody>
      </p:sp>
      <p:sp>
        <p:nvSpPr>
          <p:cNvPr id="34" name="Text 26"/>
          <p:cNvSpPr/>
          <p:nvPr/>
        </p:nvSpPr>
        <p:spPr>
          <a:xfrm>
            <a:off x="8577072" y="5157216"/>
            <a:ext cx="3044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est rapide ; la paperasse des stores l'est moins. Compte 2–4 semaines : comptes développeurs, captures, politique de confidentialité, suppression de compte, 1–3 cycles de revue.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PASSAGE À L'ÉCHELLE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Grandir une fois le mobile en ligne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677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Acquisition payante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41248" y="29443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maintenant — et seulement une fois le coût d'acquisition (CAC) et la valeur vie client (LTV) connus grâce aux données des Phases 4 et 5. Règle : LTV &gt; 3× CAC.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16552" y="20116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690872" y="228600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604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22392" y="22677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 TikTok / Instagram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709160" y="29443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Vidéos organiques et partenariats avec des créateurs de la diaspora : le canal au plus fort effet de levier pour une langue de niche. Un clip viral peut valoir plus que 10 000 $ de pub.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84464" y="2011680"/>
            <a:ext cx="36118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4DECF"/>
            </a:solidFill>
            <a:prstDash val="solid"/>
          </a:ln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5" name="Shape 11"/>
          <p:cNvSpPr/>
          <p:nvPr/>
        </p:nvSpPr>
        <p:spPr>
          <a:xfrm>
            <a:off x="8558784" y="2286000"/>
            <a:ext cx="566928" cy="566928"/>
          </a:xfrm>
          <a:prstGeom prst="ellipse">
            <a:avLst/>
          </a:prstGeom>
          <a:solidFill>
            <a:srgbClr val="F3E7DF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516" y="24277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90304" y="226771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Langue nº 2 : le yoruba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577072" y="2944368"/>
            <a:ext cx="3044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43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grande langue africaine après le swahili / l'arabe, large diaspora, mal desservie. Réutilise le système de gabarits existant (generate_course_templates.py).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4617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lingala reste le socle : chaque langue suivante s'ajoute sur une infrastructure et une audience déjà éprouvées.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C05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D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séquence, d'un seul coup d'œil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0585357"/>
              </p:ext>
            </p:extLst>
          </p:nvPr>
        </p:nvGraphicFramePr>
        <p:xfrm>
          <a:off x="548640" y="1691640"/>
          <a:ext cx="11064240" cy="4133088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Phase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Objectif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Verrou bloquant</a:t>
                      </a:r>
                      <a:endParaRPr lang="en-US" sz="14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5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Examens + séries + révisions espacées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Aucun — démarre dès l'arrivée du contenu (Phase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5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Paywall Stripe, niveaux, quota + limitation + plafond de dépense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05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Revue juridique (CGU / confidentialité) avant le 1er </a:t>
                      </a:r>
                      <a:r>
                        <a:rPr lang="en-US" sz="1300" b="1" dirty="0" err="1">
                          <a:solidFill>
                            <a:srgbClr val="C05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</a:t>
                      </a:r>
                      <a:r>
                        <a:rPr lang="en-US" sz="1300" b="1" dirty="0">
                          <a:solidFill>
                            <a:srgbClr val="C05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</a:t>
                      </a:r>
                      <a:r>
                        <a:rPr lang="en-CA" sz="1400" dirty="0"/>
                        <a:t>Have </a:t>
                      </a:r>
                      <a:r>
                        <a:rPr lang="en-CA" sz="1400" dirty="0" err="1"/>
                        <a:t>ToS</a:t>
                      </a:r>
                      <a:r>
                        <a:rPr lang="en-CA" sz="1400" dirty="0"/>
                        <a:t> + Privacy Policy in place.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5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launch — web seulement, organique seulement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Verrou juridique levé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5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Enveloppe Capacitor, App Store / Play Store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et rétention validés en Phase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05F3C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5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43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Passage à l'échelle, acquisition payante, langue nº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E7B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/ LTV connus grâce aux Phases 4 et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DE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verrou est un point de décision explicite — pas une intuition. On ne franchit une phase que lorsque la précédente a livré sa preuve.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201168" cy="201168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3" name="Shape 1"/>
          <p:cNvSpPr/>
          <p:nvPr/>
        </p:nvSpPr>
        <p:spPr>
          <a:xfrm>
            <a:off x="868680" y="566928"/>
            <a:ext cx="201168" cy="201168"/>
          </a:xfrm>
          <a:prstGeom prst="ellipse">
            <a:avLst/>
          </a:prstGeom>
          <a:solidFill>
            <a:srgbClr val="6B8E5A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1188720" y="566928"/>
            <a:ext cx="201168" cy="201168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discuter ensemble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457200" cy="457200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7" name="Text 5"/>
          <p:cNvSpPr/>
          <p:nvPr/>
        </p:nvSpPr>
        <p:spPr>
          <a:xfrm>
            <a:off x="566928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230428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d'ancrage  —  </a:t>
            </a:r>
            <a:r>
              <a:rPr lang="en-US" sz="155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9,99 $/mois et 59,99 $/an te semblent-ils justes pour notre diaspora 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66928" y="3172968"/>
            <a:ext cx="457200" cy="457200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0" name="Text 8"/>
          <p:cNvSpPr/>
          <p:nvPr/>
        </p:nvSpPr>
        <p:spPr>
          <a:xfrm>
            <a:off x="566928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314553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borne du gratuit  —  </a:t>
            </a:r>
            <a:r>
              <a:rPr lang="en-US" sz="155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1.1–1.2 + 10 messages IA/jour : assez pour convertir, ou trop court ?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66928" y="4014216"/>
            <a:ext cx="457200" cy="457200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566928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8678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verrou juridique  —  </a:t>
            </a:r>
            <a:r>
              <a:rPr lang="en-US" sz="155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Générateur (Termly/iubenda) pour le soft launch, avocat avant le mobile — d'accord 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4855464"/>
            <a:ext cx="457200" cy="457200"/>
          </a:xfrm>
          <a:prstGeom prst="ellipse">
            <a:avLst/>
          </a:prstGeom>
          <a:solidFill>
            <a:srgbClr val="C05F3C"/>
          </a:solidFill>
          <a:ln/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566928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82803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répartition du travail  —  </a:t>
            </a:r>
            <a:r>
              <a:rPr lang="en-US" sz="1550" dirty="0">
                <a:solidFill>
                  <a:srgbClr val="C9D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pilote quoi entre le contenu, la technique et la mise en marché 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66928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9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Monɔkɔ  ·  apprendre les langues africaines, en commençant par le lingala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1675</TotalTime>
  <Words>1549</Words>
  <Application>Microsoft Macintosh PowerPoint</Application>
  <PresentationFormat>Widescreen</PresentationFormat>
  <Paragraphs>143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Monoko — Plan de lancement Phase 3</dc:title>
  <dc:subject>PptxGenJS Presentation</dc:subject>
  <dc:creator>Monoko</dc:creator>
  <cp:lastModifiedBy>Anthony Kemmeugne</cp:lastModifiedBy>
  <cp:revision>2</cp:revision>
  <dcterms:created xsi:type="dcterms:W3CDTF">2026-07-06T17:33:46Z</dcterms:created>
  <dcterms:modified xsi:type="dcterms:W3CDTF">2026-07-07T22:04:56Z</dcterms:modified>
</cp:coreProperties>
</file>